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800" cy="6858000"/>
          </a:xfrm>
          <a:prstGeom prst="rect">
            <a:avLst/>
          </a:prstGeom>
          <a:solidFill>
            <a:srgbClr val="CDD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2743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0">
                <a:solidFill>
                  <a:srgbClr val="CDDE33"/>
                </a:solidFill>
                <a:latin typeface="Playfair Display"/>
              </a:rPr>
              <a:t>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063240"/>
            <a:ext cx="9601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400" b="0">
                <a:solidFill>
                  <a:srgbClr val="FAFAF4"/>
                </a:solidFill>
                <a:latin typeface="Playfair Display"/>
              </a:rPr>
              <a:t>ATHENA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9776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DDE33"/>
                </a:solidFill>
                <a:latin typeface="Karla"/>
              </a:rPr>
              <a:t>TBM  INTELLIGENCE 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886968" y="4526280"/>
            <a:ext cx="1280160" cy="31750"/>
          </a:xfrm>
          <a:prstGeom prst="rect">
            <a:avLst/>
          </a:prstGeom>
          <a:solidFill>
            <a:srgbClr val="4F6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70916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86A1A1"/>
                </a:solidFill>
                <a:latin typeface="Karla"/>
              </a:rPr>
              <a:t>From messy IT &amp; finance spreadsheets to a governed, ATUM-classified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86A1A1"/>
                </a:solidFill>
                <a:latin typeface="Karla"/>
              </a:rPr>
              <a:t>TBM data model — automated, explainable, and audit-ready.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4F6868"/>
                </a:solidFill>
                <a:latin typeface="Karla"/>
              </a:rPr>
              <a:t>ATHENA · TBM INTELLIGENCE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>
                <a:solidFill>
                  <a:srgbClr val="4F6868"/>
                </a:solidFill>
                <a:latin typeface="Karla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DDE33"/>
                </a:solidFill>
                <a:latin typeface="Karla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0">
                <a:solidFill>
                  <a:srgbClr val="FAFAF4"/>
                </a:solidFill>
                <a:latin typeface="Playfair Display"/>
              </a:rPr>
              <a:t>TBM data readiness is a bottleneck, not a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502920" cy="38100"/>
          </a:xfrm>
          <a:prstGeom prst="rect">
            <a:avLst/>
          </a:prstGeom>
          <a:solidFill>
            <a:srgbClr val="CDD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>
                <a:solidFill>
                  <a:srgbClr val="CDDE33"/>
                </a:solidFill>
                <a:latin typeface="Karla"/>
              </a:rPr>
              <a:t>›  </a:t>
            </a:r>
            <a:r>
              <a:rPr sz="1500" b="1">
                <a:solidFill>
                  <a:srgbClr val="FAFAF4"/>
                </a:solidFill>
                <a:latin typeface="Karla"/>
              </a:rPr>
              <a:t>Enterprise IT &amp; finance data lives in dozens of disconnected spreadsheets.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86A1A1"/>
                </a:solidFill>
                <a:latin typeface="Karla"/>
              </a:rPr>
              <a:t>     Vendor lists, GL cost extracts, CMDBs, resource-tower catalogs — each with its own schema.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>
                <a:solidFill>
                  <a:srgbClr val="CDDE33"/>
                </a:solidFill>
                <a:latin typeface="Karla"/>
              </a:rPr>
              <a:t>›  </a:t>
            </a:r>
            <a:r>
              <a:rPr sz="1500" b="1">
                <a:solidFill>
                  <a:srgbClr val="FAFAF4"/>
                </a:solidFill>
                <a:latin typeface="Karla"/>
              </a:rPr>
              <a:t>Mapping that data onto a TBM taxonomy (ATUM) is manual, slow, and inconsistent.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86A1A1"/>
                </a:solidFill>
                <a:latin typeface="Karla"/>
              </a:rPr>
              <a:t>     Analysts hand-classify thousands of line items with no audit trail.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>
                <a:solidFill>
                  <a:srgbClr val="CDDE33"/>
                </a:solidFill>
                <a:latin typeface="Karla"/>
              </a:rPr>
              <a:t>›  </a:t>
            </a:r>
            <a:r>
              <a:rPr sz="1500" b="1">
                <a:solidFill>
                  <a:srgbClr val="FAFAF4"/>
                </a:solidFill>
                <a:latin typeface="Karla"/>
              </a:rPr>
              <a:t>Relationships between systems, vendors, and cost centers are invisible.</a:t>
            </a:r>
          </a:p>
          <a:p>
            <a:pPr>
              <a:spcAft>
                <a:spcPts val="1000"/>
              </a:spcAft>
            </a:pPr>
            <a:r>
              <a:rPr sz="1300">
                <a:solidFill>
                  <a:srgbClr val="86A1A1"/>
                </a:solidFill>
                <a:latin typeface="Karla"/>
              </a:rPr>
              <a:t>     No one can see how a storage device rolls up to a cost pool without tribal knowledge.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500" b="1">
                <a:solidFill>
                  <a:srgbClr val="CDDE33"/>
                </a:solidFill>
                <a:latin typeface="Karla"/>
              </a:rPr>
              <a:t>›  </a:t>
            </a:r>
            <a:r>
              <a:rPr sz="1500" b="1">
                <a:solidFill>
                  <a:srgbClr val="FAFAF4"/>
                </a:solidFill>
                <a:latin typeface="Karla"/>
              </a:rPr>
              <a:t>The result: weeks of spreadsheet wrangling before any real cost transparency work can start.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828800"/>
            <a:ext cx="5166360" cy="4114800"/>
          </a:xfrm>
          <a:prstGeom prst="rect">
            <a:avLst/>
          </a:prstGeom>
          <a:solidFill>
            <a:srgbClr val="111111"/>
          </a:solidFill>
          <a:ln w="9525">
            <a:solidFill>
              <a:srgbClr val="20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20840" y="20574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4F6868"/>
                </a:solidFill>
                <a:latin typeface="Karla"/>
              </a:rPr>
              <a:t>A TYPICAL INTAKE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2514600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FAFAF4"/>
                </a:solidFill>
                <a:latin typeface="Karla"/>
              </a:rPr>
              <a:t>Cost_Source_Master_Data.xlsx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2514600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50" b="0">
                <a:solidFill>
                  <a:srgbClr val="86A1A1"/>
                </a:solidFill>
                <a:latin typeface="Karla"/>
              </a:rPr>
              <a:t>1,177 rows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0840" y="2971800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FAFAF4"/>
                </a:solidFill>
                <a:latin typeface="Karla"/>
              </a:rPr>
              <a:t>Storage_Master_Data.xlsx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2971800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50" b="0">
                <a:solidFill>
                  <a:srgbClr val="86A1A1"/>
                </a:solidFill>
                <a:latin typeface="Karla"/>
              </a:rPr>
              <a:t>52,838 rows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3429000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FAFAF4"/>
                </a:solidFill>
                <a:latin typeface="Karla"/>
              </a:rPr>
              <a:t>IT_Resource_Towers_Master_Data.xlsx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3429000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50" b="0">
                <a:solidFill>
                  <a:srgbClr val="86A1A1"/>
                </a:solidFill>
                <a:latin typeface="Karla"/>
              </a:rPr>
              <a:t>355 rows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3886200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FAFAF4"/>
                </a:solidFill>
                <a:latin typeface="Karla"/>
              </a:rPr>
              <a:t>Storage_Devices_Master_Data.xlsx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3886200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50" b="0">
                <a:solidFill>
                  <a:srgbClr val="86A1A1"/>
                </a:solidFill>
                <a:latin typeface="Karla"/>
              </a:rPr>
              <a:t>26 rows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4343400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FAFAF4"/>
                </a:solidFill>
                <a:latin typeface="Karla"/>
              </a:rPr>
              <a:t>Data_Centers_Master_Data.xlsx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4343400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50" b="0">
                <a:solidFill>
                  <a:srgbClr val="86A1A1"/>
                </a:solidFill>
                <a:latin typeface="Karla"/>
              </a:rPr>
              <a:t>8 rows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20840" y="4892040"/>
            <a:ext cx="4572000" cy="12700"/>
          </a:xfrm>
          <a:prstGeom prst="rect">
            <a:avLst/>
          </a:prstGeom>
          <a:solidFill>
            <a:srgbClr val="20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507492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CDDE33"/>
                </a:solidFill>
                <a:latin typeface="Karla"/>
              </a:rPr>
              <a:t>108,808 rows · 9+ formats · zero shared schema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4F6868"/>
                </a:solidFill>
                <a:latin typeface="Karla"/>
              </a:rPr>
              <a:t>ATHENA · TBM INTELLIGENCE PLATFORM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>
                <a:solidFill>
                  <a:srgbClr val="4F6868"/>
                </a:solidFill>
                <a:latin typeface="Karla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DDE33"/>
                </a:solidFill>
                <a:latin typeface="Karla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0">
                <a:solidFill>
                  <a:srgbClr val="FAFAF4"/>
                </a:solidFill>
                <a:latin typeface="Playfair Display"/>
              </a:rPr>
              <a:t>One guided pipeline, five phases, human-in-the-loop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502920" cy="38100"/>
          </a:xfrm>
          <a:prstGeom prst="rect">
            <a:avLst/>
          </a:prstGeom>
          <a:solidFill>
            <a:srgbClr val="CDD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86A1A1"/>
                </a:solidFill>
                <a:latin typeface="Karla"/>
              </a:rPr>
              <a:t>Athena ingests raw spreadsheets and walks them through an automated, reviewable pipeline to a governed TBM data model.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468880"/>
            <a:ext cx="1971446" cy="2834640"/>
          </a:xfrm>
          <a:prstGeom prst="rect">
            <a:avLst/>
          </a:prstGeom>
          <a:solidFill>
            <a:srgbClr val="111111"/>
          </a:solidFill>
          <a:ln w="9525">
            <a:solidFill>
              <a:srgbClr val="20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468880"/>
            <a:ext cx="1971446" cy="38100"/>
          </a:xfrm>
          <a:prstGeom prst="rect">
            <a:avLst/>
          </a:prstGeom>
          <a:solidFill>
            <a:srgbClr val="CDD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670048"/>
            <a:ext cx="169712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CDDE33"/>
                </a:solidFill>
                <a:latin typeface="Playfair Display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429000"/>
            <a:ext cx="169712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>
                <a:solidFill>
                  <a:srgbClr val="FAFAF4"/>
                </a:solidFill>
                <a:latin typeface="Karla"/>
              </a:rPr>
              <a:t>Import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4069080"/>
            <a:ext cx="169712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86A1A1"/>
                </a:solidFill>
                <a:latin typeface="Karla"/>
              </a:rPr>
              <a:t>Catalog &amp; profile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1527" y="3703320"/>
            <a:ext cx="25603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4F6868"/>
                </a:solidFill>
                <a:latin typeface="Karla"/>
              </a:rPr>
              <a:t>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67558" y="2468880"/>
            <a:ext cx="1971446" cy="2834640"/>
          </a:xfrm>
          <a:prstGeom prst="rect">
            <a:avLst/>
          </a:prstGeom>
          <a:solidFill>
            <a:srgbClr val="111111"/>
          </a:solidFill>
          <a:ln w="9525">
            <a:solidFill>
              <a:srgbClr val="20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67558" y="2468880"/>
            <a:ext cx="1971446" cy="38100"/>
          </a:xfrm>
          <a:prstGeom prst="rect">
            <a:avLst/>
          </a:prstGeom>
          <a:solidFill>
            <a:srgbClr val="0F7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32150" y="2670048"/>
            <a:ext cx="169712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F7E6D"/>
                </a:solidFill>
                <a:latin typeface="Playfair Display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32150" y="3429000"/>
            <a:ext cx="169712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>
                <a:solidFill>
                  <a:srgbClr val="FAFAF4"/>
                </a:solidFill>
                <a:latin typeface="Karla"/>
              </a:rPr>
              <a:t>Relationships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2150" y="4069080"/>
            <a:ext cx="169712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86A1A1"/>
                </a:solidFill>
                <a:latin typeface="Karla"/>
              </a:rPr>
              <a:t>Knowledge graph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39005" y="3703320"/>
            <a:ext cx="25603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4F6868"/>
                </a:solidFill>
                <a:latin typeface="Karla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95036" y="2468880"/>
            <a:ext cx="1971446" cy="2834640"/>
          </a:xfrm>
          <a:prstGeom prst="rect">
            <a:avLst/>
          </a:prstGeom>
          <a:solidFill>
            <a:srgbClr val="111111"/>
          </a:solidFill>
          <a:ln w="9525">
            <a:solidFill>
              <a:srgbClr val="20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95036" y="2468880"/>
            <a:ext cx="1971446" cy="38100"/>
          </a:xfrm>
          <a:prstGeom prst="rect">
            <a:avLst/>
          </a:prstGeom>
          <a:solidFill>
            <a:srgbClr val="25A2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59628" y="2670048"/>
            <a:ext cx="169712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5A28F"/>
                </a:solidFill>
                <a:latin typeface="Playfair Display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9628" y="3429000"/>
            <a:ext cx="169712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>
                <a:solidFill>
                  <a:srgbClr val="FAFAF4"/>
                </a:solidFill>
                <a:latin typeface="Karla"/>
              </a:rPr>
              <a:t>Data Quality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9628" y="4069080"/>
            <a:ext cx="169712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86A1A1"/>
                </a:solidFill>
                <a:latin typeface="Karla"/>
              </a:rPr>
              <a:t>Detect &amp; correct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66484" y="3703320"/>
            <a:ext cx="25603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4F6868"/>
                </a:solidFill>
                <a:latin typeface="Karla"/>
              </a:rPr>
              <a:t>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22515" y="2468880"/>
            <a:ext cx="1971446" cy="2834640"/>
          </a:xfrm>
          <a:prstGeom prst="rect">
            <a:avLst/>
          </a:prstGeom>
          <a:solidFill>
            <a:srgbClr val="111111"/>
          </a:solidFill>
          <a:ln w="9525">
            <a:solidFill>
              <a:srgbClr val="20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22515" y="2468880"/>
            <a:ext cx="1971446" cy="38100"/>
          </a:xfrm>
          <a:prstGeom prst="rect">
            <a:avLst/>
          </a:prstGeom>
          <a:solidFill>
            <a:srgbClr val="FFBB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87107" y="2670048"/>
            <a:ext cx="169712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BB1C"/>
                </a:solidFill>
                <a:latin typeface="Playfair Display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87107" y="3429000"/>
            <a:ext cx="169712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>
                <a:solidFill>
                  <a:srgbClr val="FAFAF4"/>
                </a:solidFill>
                <a:latin typeface="Karla"/>
              </a:rPr>
              <a:t>ATUM Mapping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87107" y="4069080"/>
            <a:ext cx="169712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86A1A1"/>
                </a:solidFill>
                <a:latin typeface="Karla"/>
              </a:rPr>
              <a:t>AI classification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93962" y="3703320"/>
            <a:ext cx="25603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0">
                <a:solidFill>
                  <a:srgbClr val="4F6868"/>
                </a:solidFill>
                <a:latin typeface="Karla"/>
              </a:rPr>
              <a:t>›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49993" y="2468880"/>
            <a:ext cx="1971446" cy="2834640"/>
          </a:xfrm>
          <a:prstGeom prst="rect">
            <a:avLst/>
          </a:prstGeom>
          <a:solidFill>
            <a:srgbClr val="111111"/>
          </a:solidFill>
          <a:ln w="9525">
            <a:solidFill>
              <a:srgbClr val="20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49993" y="2468880"/>
            <a:ext cx="1971446" cy="38100"/>
          </a:xfrm>
          <a:prstGeom prst="rect">
            <a:avLst/>
          </a:prstGeom>
          <a:solidFill>
            <a:srgbClr val="731A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14585" y="2670048"/>
            <a:ext cx="169712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731A42"/>
                </a:solidFill>
                <a:latin typeface="Playfair Display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14585" y="3429000"/>
            <a:ext cx="169712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>
                <a:solidFill>
                  <a:srgbClr val="FAFAF4"/>
                </a:solidFill>
                <a:latin typeface="Karla"/>
              </a:rPr>
              <a:t>Export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14585" y="4069080"/>
            <a:ext cx="169712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86A1A1"/>
                </a:solidFill>
                <a:latin typeface="Karla"/>
              </a:rPr>
              <a:t>Apptio-ready model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4F6868"/>
                </a:solidFill>
                <a:latin typeface="Karla"/>
              </a:rPr>
              <a:t>ATHENA · TBM INTELLIGENCE PLATFORM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>
                <a:solidFill>
                  <a:srgbClr val="4F6868"/>
                </a:solidFill>
                <a:latin typeface="Karla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DDE33"/>
                </a:solidFill>
                <a:latin typeface="Karla"/>
              </a:rPr>
              <a:t>PHASE 1 — IMPORT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0">
                <a:solidFill>
                  <a:srgbClr val="FAFAF4"/>
                </a:solidFill>
                <a:latin typeface="Playfair Display"/>
              </a:rPr>
              <a:t>Drop spreadsheets in, get a live catalog 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502920" cy="38100"/>
          </a:xfrm>
          <a:prstGeom prst="rect">
            <a:avLst/>
          </a:prstGeom>
          <a:solidFill>
            <a:srgbClr val="CDD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4160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80" b="1">
                <a:solidFill>
                  <a:srgbClr val="CDDE33"/>
                </a:solidFill>
                <a:latin typeface="Karla"/>
              </a:rPr>
              <a:t>›  </a:t>
            </a:r>
            <a:r>
              <a:rPr sz="1380" b="1">
                <a:solidFill>
                  <a:srgbClr val="FAFAF4"/>
                </a:solidFill>
                <a:latin typeface="Karla"/>
              </a:rPr>
              <a:t>Drag-and-drop ingestion for Excel/CSV/JSON.</a:t>
            </a:r>
          </a:p>
          <a:p>
            <a:pPr>
              <a:spcAft>
                <a:spcPts val="1200"/>
              </a:spcAft>
            </a:pPr>
            <a:r>
              <a:rPr sz="1180">
                <a:solidFill>
                  <a:srgbClr val="86A1A1"/>
                </a:solidFill>
                <a:latin typeface="Karla"/>
              </a:rPr>
              <a:t>     Every file auto-runs the full ingestion pipeline — no manual schema setup.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80" b="1">
                <a:solidFill>
                  <a:srgbClr val="CDDE33"/>
                </a:solidFill>
                <a:latin typeface="Karla"/>
              </a:rPr>
              <a:t>›  </a:t>
            </a:r>
            <a:r>
              <a:rPr sz="1380" b="1">
                <a:solidFill>
                  <a:srgbClr val="FAFAF4"/>
                </a:solidFill>
                <a:latin typeface="Karla"/>
              </a:rPr>
              <a:t>Automatic source-type detection.</a:t>
            </a:r>
          </a:p>
          <a:p>
            <a:pPr>
              <a:spcAft>
                <a:spcPts val="1200"/>
              </a:spcAft>
            </a:pPr>
            <a:r>
              <a:rPr sz="1180">
                <a:solidFill>
                  <a:srgbClr val="86A1A1"/>
                </a:solidFill>
                <a:latin typeface="Karla"/>
              </a:rPr>
              <a:t>     General Ledger, CMDB, Application Inventory classified on arrival.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80" b="1">
                <a:solidFill>
                  <a:srgbClr val="CDDE33"/>
                </a:solidFill>
                <a:latin typeface="Karla"/>
              </a:rPr>
              <a:t>›  </a:t>
            </a:r>
            <a:r>
              <a:rPr sz="1380" b="1">
                <a:solidFill>
                  <a:srgbClr val="FAFAF4"/>
                </a:solidFill>
                <a:latin typeface="Karla"/>
              </a:rPr>
              <a:t>Row-level profiling at scale.</a:t>
            </a:r>
          </a:p>
          <a:p>
            <a:pPr>
              <a:spcAft>
                <a:spcPts val="1200"/>
              </a:spcAft>
            </a:pPr>
            <a:r>
              <a:rPr sz="1180">
                <a:solidFill>
                  <a:srgbClr val="86A1A1"/>
                </a:solidFill>
                <a:latin typeface="Karla"/>
              </a:rPr>
              <a:t>     108,808 rows across 14 datasets cataloged and status-tracked in seconds.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80" b="1">
                <a:solidFill>
                  <a:srgbClr val="CDDE33"/>
                </a:solidFill>
                <a:latin typeface="Karla"/>
              </a:rPr>
              <a:t>›  </a:t>
            </a:r>
            <a:r>
              <a:rPr sz="1380" b="1">
                <a:solidFill>
                  <a:srgbClr val="FAFAF4"/>
                </a:solidFill>
                <a:latin typeface="Karla"/>
              </a:rPr>
              <a:t>Nothing blocks on a perfect first upload.</a:t>
            </a:r>
          </a:p>
          <a:p>
            <a:pPr>
              <a:spcAft>
                <a:spcPts val="1200"/>
              </a:spcAft>
            </a:pPr>
            <a:r>
              <a:rPr sz="1180">
                <a:solidFill>
                  <a:srgbClr val="86A1A1"/>
                </a:solidFill>
                <a:latin typeface="Karla"/>
              </a:rPr>
              <a:t>     Datasets can be corrected and re-embedded later in the pipeline.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59680" y="1813560"/>
            <a:ext cx="6477000" cy="3790950"/>
          </a:xfrm>
          <a:prstGeom prst="rect">
            <a:avLst/>
          </a:prstGeom>
          <a:solidFill>
            <a:srgbClr val="111111"/>
          </a:solidFill>
          <a:ln w="12700">
            <a:solidFill>
              <a:srgbClr val="20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828800"/>
            <a:ext cx="6446520" cy="376047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74920" y="5698998"/>
            <a:ext cx="6446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4F6868"/>
                </a:solidFill>
                <a:latin typeface="Karla"/>
              </a:rPr>
              <a:t>Live dataset catalog — 14 datasets, 108,808 rows, auto-classified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4F6868"/>
                </a:solidFill>
                <a:latin typeface="Karla"/>
              </a:rPr>
              <a:t>ATHENA · TBM INTELLIGENCE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>
                <a:solidFill>
                  <a:srgbClr val="4F6868"/>
                </a:solidFill>
                <a:latin typeface="Karla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DDE33"/>
                </a:solidFill>
                <a:latin typeface="Karla"/>
              </a:rPr>
              <a:t>PHASE 2 — RELATIONSHIPS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0">
                <a:solidFill>
                  <a:srgbClr val="FAFAF4"/>
                </a:solidFill>
                <a:latin typeface="Playfair Display"/>
              </a:rPr>
              <a:t>An enterprise knowledge graph, built automatically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502920" cy="38100"/>
          </a:xfrm>
          <a:prstGeom prst="rect">
            <a:avLst/>
          </a:prstGeom>
          <a:solidFill>
            <a:srgbClr val="CDD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4160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80" b="1">
                <a:solidFill>
                  <a:srgbClr val="CDDE33"/>
                </a:solidFill>
                <a:latin typeface="Karla"/>
              </a:rPr>
              <a:t>›  </a:t>
            </a:r>
            <a:r>
              <a:rPr sz="1380" b="1">
                <a:solidFill>
                  <a:srgbClr val="FAFAF4"/>
                </a:solidFill>
                <a:latin typeface="Karla"/>
              </a:rPr>
              <a:t>Cross-dataset entity resolution.</a:t>
            </a:r>
          </a:p>
          <a:p>
            <a:pPr>
              <a:spcAft>
                <a:spcPts val="1200"/>
              </a:spcAft>
            </a:pPr>
            <a:r>
              <a:rPr sz="1180">
                <a:solidFill>
                  <a:srgbClr val="86A1A1"/>
                </a:solidFill>
                <a:latin typeface="Karla"/>
              </a:rPr>
              <a:t>     Vendors, cost centers, infrastructure assets, projects — deduplicated and linked.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80" b="1">
                <a:solidFill>
                  <a:srgbClr val="CDDE33"/>
                </a:solidFill>
                <a:latin typeface="Karla"/>
              </a:rPr>
              <a:t>›  </a:t>
            </a:r>
            <a:r>
              <a:rPr sz="1380" b="1">
                <a:solidFill>
                  <a:srgbClr val="FAFAF4"/>
                </a:solidFill>
                <a:latin typeface="Karla"/>
              </a:rPr>
              <a:t>Three kinds of evidence, not guesswork.</a:t>
            </a:r>
          </a:p>
          <a:p>
            <a:pPr>
              <a:spcAft>
                <a:spcPts val="1200"/>
              </a:spcAft>
            </a:pPr>
            <a:r>
              <a:rPr sz="1180">
                <a:solidFill>
                  <a:srgbClr val="86A1A1"/>
                </a:solidFill>
                <a:latin typeface="Karla"/>
              </a:rPr>
              <a:t>     Structural foreign keys, same-row co-occurrence, and ATUM taxonomy mappings.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80" b="1">
                <a:solidFill>
                  <a:srgbClr val="CDDE33"/>
                </a:solidFill>
                <a:latin typeface="Karla"/>
              </a:rPr>
              <a:t>›  </a:t>
            </a:r>
            <a:r>
              <a:rPr sz="1380" b="1">
                <a:solidFill>
                  <a:srgbClr val="FAFAF4"/>
                </a:solidFill>
                <a:latin typeface="Karla"/>
              </a:rPr>
              <a:t>276 entities, 958 relationships surfaced automatically.</a:t>
            </a:r>
          </a:p>
          <a:p>
            <a:pPr>
              <a:spcAft>
                <a:spcPts val="1200"/>
              </a:spcAft>
            </a:pPr>
            <a:r>
              <a:rPr sz="1180">
                <a:solidFill>
                  <a:srgbClr val="86A1A1"/>
                </a:solidFill>
                <a:latin typeface="Karla"/>
              </a:rPr>
              <a:t>     From data that shipped with zero shared schema.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80" b="1">
                <a:solidFill>
                  <a:srgbClr val="CDDE33"/>
                </a:solidFill>
                <a:latin typeface="Karla"/>
              </a:rPr>
              <a:t>›  </a:t>
            </a:r>
            <a:r>
              <a:rPr sz="1380" b="1">
                <a:solidFill>
                  <a:srgbClr val="FAFAF4"/>
                </a:solidFill>
                <a:latin typeface="Karla"/>
              </a:rPr>
              <a:t>Built for exploration, not just storage.</a:t>
            </a:r>
          </a:p>
          <a:p>
            <a:pPr>
              <a:spcAft>
                <a:spcPts val="1200"/>
              </a:spcAft>
            </a:pPr>
            <a:r>
              <a:rPr sz="1180">
                <a:solidFill>
                  <a:srgbClr val="86A1A1"/>
                </a:solidFill>
                <a:latin typeface="Karla"/>
              </a:rPr>
              <a:t>     Pan, zoom, and click-to-focus turn a dense graph into a readable one.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59680" y="1813560"/>
            <a:ext cx="6477000" cy="3790950"/>
          </a:xfrm>
          <a:prstGeom prst="rect">
            <a:avLst/>
          </a:prstGeom>
          <a:solidFill>
            <a:srgbClr val="111111"/>
          </a:solidFill>
          <a:ln w="12700">
            <a:solidFill>
              <a:srgbClr val="20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elationshi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828800"/>
            <a:ext cx="6446520" cy="376047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74920" y="5698998"/>
            <a:ext cx="6446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4F6868"/>
                </a:solidFill>
                <a:latin typeface="Karla"/>
              </a:rPr>
              <a:t>276 entities · 958 relationships, explored live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4F6868"/>
                </a:solidFill>
                <a:latin typeface="Karla"/>
              </a:rPr>
              <a:t>ATHENA · TBM INTELLIGENCE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>
                <a:solidFill>
                  <a:srgbClr val="4F6868"/>
                </a:solidFill>
                <a:latin typeface="Karla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DDE33"/>
                </a:solidFill>
                <a:latin typeface="Karla"/>
              </a:rPr>
              <a:t>PHASE 2 — RELATIONSHIPS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0">
                <a:solidFill>
                  <a:srgbClr val="FAFAF4"/>
                </a:solidFill>
                <a:latin typeface="Playfair Display"/>
              </a:rPr>
              <a:t>Click any node, see exactly what it touches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502920" cy="38100"/>
          </a:xfrm>
          <a:prstGeom prst="rect">
            <a:avLst/>
          </a:prstGeom>
          <a:solidFill>
            <a:srgbClr val="CDD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4160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80" b="1">
                <a:solidFill>
                  <a:srgbClr val="CDDE33"/>
                </a:solidFill>
                <a:latin typeface="Karla"/>
              </a:rPr>
              <a:t>›  </a:t>
            </a:r>
            <a:r>
              <a:rPr sz="1380" b="1">
                <a:solidFill>
                  <a:srgbClr val="FAFAF4"/>
                </a:solidFill>
                <a:latin typeface="Karla"/>
              </a:rPr>
              <a:t>Focus mode turns a hairball into an answer.</a:t>
            </a:r>
          </a:p>
          <a:p>
            <a:pPr>
              <a:spcAft>
                <a:spcPts val="1200"/>
              </a:spcAft>
            </a:pPr>
            <a:r>
              <a:rPr sz="1180">
                <a:solidFill>
                  <a:srgbClr val="86A1A1"/>
                </a:solidFill>
                <a:latin typeface="Karla"/>
              </a:rPr>
              <a:t>     Hover or click dims everything except that entity's direct connections.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80" b="1">
                <a:solidFill>
                  <a:srgbClr val="CDDE33"/>
                </a:solidFill>
                <a:latin typeface="Karla"/>
              </a:rPr>
              <a:t>›  </a:t>
            </a:r>
            <a:r>
              <a:rPr sz="1380" b="1">
                <a:solidFill>
                  <a:srgbClr val="FAFAF4"/>
                </a:solidFill>
                <a:latin typeface="Karla"/>
              </a:rPr>
              <a:t>Auto-framing.</a:t>
            </a:r>
          </a:p>
          <a:p>
            <a:pPr>
              <a:spcAft>
                <a:spcPts val="1200"/>
              </a:spcAft>
            </a:pPr>
            <a:r>
              <a:rPr sz="1180">
                <a:solidFill>
                  <a:srgbClr val="86A1A1"/>
                </a:solidFill>
                <a:latin typeface="Karla"/>
              </a:rPr>
              <a:t>     A click pans/zooms the camera to fit the node and its neighbors — labels stay readable.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80" b="1">
                <a:solidFill>
                  <a:srgbClr val="CDDE33"/>
                </a:solidFill>
                <a:latin typeface="Karla"/>
              </a:rPr>
              <a:t>›  </a:t>
            </a:r>
            <a:r>
              <a:rPr sz="1380" b="1">
                <a:solidFill>
                  <a:srgbClr val="FAFAF4"/>
                </a:solidFill>
                <a:latin typeface="Karla"/>
              </a:rPr>
              <a:t>Full provenance on demand.</a:t>
            </a:r>
          </a:p>
          <a:p>
            <a:pPr>
              <a:spcAft>
                <a:spcPts val="1200"/>
              </a:spcAft>
            </a:pPr>
            <a:r>
              <a:rPr sz="1180">
                <a:solidFill>
                  <a:srgbClr val="86A1A1"/>
                </a:solidFill>
                <a:latin typeface="Karla"/>
              </a:rPr>
              <a:t>     Confidence score, source datasets, and every relationship in one side panel.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80" b="1">
                <a:solidFill>
                  <a:srgbClr val="CDDE33"/>
                </a:solidFill>
                <a:latin typeface="Karla"/>
              </a:rPr>
              <a:t>›  </a:t>
            </a:r>
            <a:r>
              <a:rPr sz="1380" b="1">
                <a:solidFill>
                  <a:srgbClr val="FAFAF4"/>
                </a:solidFill>
                <a:latin typeface="Karla"/>
              </a:rPr>
              <a:t>From "what is this?" to "what does this connect to?" in one click.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59680" y="1813560"/>
            <a:ext cx="6477000" cy="3790950"/>
          </a:xfrm>
          <a:prstGeom prst="rect">
            <a:avLst/>
          </a:prstGeom>
          <a:solidFill>
            <a:srgbClr val="111111"/>
          </a:solidFill>
          <a:ln w="12700">
            <a:solidFill>
              <a:srgbClr val="20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elationships_foc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828800"/>
            <a:ext cx="6446520" cy="376047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74920" y="5698998"/>
            <a:ext cx="6446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4F6868"/>
                </a:solidFill>
                <a:latin typeface="Karla"/>
              </a:rPr>
              <a:t>Focused ego-network for SFO-TAP-PRD11 — instant, legible detail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4F6868"/>
                </a:solidFill>
                <a:latin typeface="Karla"/>
              </a:rPr>
              <a:t>ATHENA · TBM INTELLIGENCE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>
                <a:solidFill>
                  <a:srgbClr val="4F6868"/>
                </a:solidFill>
                <a:latin typeface="Karla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DDE33"/>
                </a:solidFill>
                <a:latin typeface="Karla"/>
              </a:rPr>
              <a:t>PHASE 3 — DATA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0">
                <a:solidFill>
                  <a:srgbClr val="FAFAF4"/>
                </a:solidFill>
                <a:latin typeface="Playfair Display"/>
              </a:rPr>
              <a:t>Every dataset scored before it goes further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502920" cy="38100"/>
          </a:xfrm>
          <a:prstGeom prst="rect">
            <a:avLst/>
          </a:prstGeom>
          <a:solidFill>
            <a:srgbClr val="CDD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4160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80" b="1">
                <a:solidFill>
                  <a:srgbClr val="CDDE33"/>
                </a:solidFill>
                <a:latin typeface="Karla"/>
              </a:rPr>
              <a:t>›  </a:t>
            </a:r>
            <a:r>
              <a:rPr sz="1380" b="1">
                <a:solidFill>
                  <a:srgbClr val="FAFAF4"/>
                </a:solidFill>
                <a:latin typeface="Karla"/>
              </a:rPr>
              <a:t>Four quality dimensions, scored automatically.</a:t>
            </a:r>
          </a:p>
          <a:p>
            <a:pPr>
              <a:spcAft>
                <a:spcPts val="1200"/>
              </a:spcAft>
            </a:pPr>
            <a:r>
              <a:rPr sz="1180">
                <a:solidFill>
                  <a:srgbClr val="86A1A1"/>
                </a:solidFill>
                <a:latin typeface="Karla"/>
              </a:rPr>
              <a:t>     Completeness, validity, consistency, uniqueness — per dataset.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80" b="1">
                <a:solidFill>
                  <a:srgbClr val="CDDE33"/>
                </a:solidFill>
                <a:latin typeface="Karla"/>
              </a:rPr>
              <a:t>›  </a:t>
            </a:r>
            <a:r>
              <a:rPr sz="1380" b="1">
                <a:solidFill>
                  <a:srgbClr val="FAFAF4"/>
                </a:solidFill>
                <a:latin typeface="Karla"/>
              </a:rPr>
              <a:t>Issues surfaced with severity, not buried in a log.</a:t>
            </a:r>
          </a:p>
          <a:p>
            <a:pPr>
              <a:spcAft>
                <a:spcPts val="1200"/>
              </a:spcAft>
            </a:pPr>
            <a:r>
              <a:rPr sz="1180">
                <a:solidFill>
                  <a:srgbClr val="86A1A1"/>
                </a:solidFill>
                <a:latin typeface="Karla"/>
              </a:rPr>
              <a:t>     Schema mismatches and other issues ranked critical → info.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80" b="1">
                <a:solidFill>
                  <a:srgbClr val="CDDE33"/>
                </a:solidFill>
                <a:latin typeface="Karla"/>
              </a:rPr>
              <a:t>›  </a:t>
            </a:r>
            <a:r>
              <a:rPr sz="1380" b="1">
                <a:solidFill>
                  <a:srgbClr val="FAFAF4"/>
                </a:solidFill>
                <a:latin typeface="Karla"/>
              </a:rPr>
              <a:t>Readiness score gates downstream phases.</a:t>
            </a:r>
          </a:p>
          <a:p>
            <a:pPr>
              <a:spcAft>
                <a:spcPts val="1200"/>
              </a:spcAft>
            </a:pPr>
            <a:r>
              <a:rPr sz="1180">
                <a:solidFill>
                  <a:srgbClr val="86A1A1"/>
                </a:solidFill>
                <a:latin typeface="Karla"/>
              </a:rPr>
              <a:t>     Analysts know exactly which dataset needs attention before ATUM mapping.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80" b="1">
                <a:solidFill>
                  <a:srgbClr val="CDDE33"/>
                </a:solidFill>
                <a:latin typeface="Karla"/>
              </a:rPr>
              <a:t>›  </a:t>
            </a:r>
            <a:r>
              <a:rPr sz="1380" b="1">
                <a:solidFill>
                  <a:srgbClr val="FAFAF4"/>
                </a:solidFill>
                <a:latin typeface="Karla"/>
              </a:rPr>
              <a:t>Corrections are suggested, reviewed, and applied — not silently auto-fixed.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59680" y="1813560"/>
            <a:ext cx="6477000" cy="3790950"/>
          </a:xfrm>
          <a:prstGeom prst="rect">
            <a:avLst/>
          </a:prstGeom>
          <a:solidFill>
            <a:srgbClr val="111111"/>
          </a:solidFill>
          <a:ln w="12700">
            <a:solidFill>
              <a:srgbClr val="20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828800"/>
            <a:ext cx="6446520" cy="376047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74920" y="5698998"/>
            <a:ext cx="6446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4F6868"/>
                </a:solidFill>
                <a:latin typeface="Karla"/>
              </a:rPr>
              <a:t>Data Quality &amp; Standardization — 37 schemas, 9 datasets scored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4F6868"/>
                </a:solidFill>
                <a:latin typeface="Karla"/>
              </a:rPr>
              <a:t>ATHENA · TBM INTELLIGENCE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>
                <a:solidFill>
                  <a:srgbClr val="4F6868"/>
                </a:solidFill>
                <a:latin typeface="Karla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DDE33"/>
                </a:solidFill>
                <a:latin typeface="Karla"/>
              </a:rPr>
              <a:t>PHASE 4 — ATUM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>
                <a:solidFill>
                  <a:srgbClr val="FAFAF4"/>
                </a:solidFill>
                <a:latin typeface="Playfair Display"/>
              </a:rPr>
              <a:t>AI-assisted classification against the real TBM taxonomy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502920" cy="38100"/>
          </a:xfrm>
          <a:prstGeom prst="rect">
            <a:avLst/>
          </a:prstGeom>
          <a:solidFill>
            <a:srgbClr val="CDD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4160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80" b="1">
                <a:solidFill>
                  <a:srgbClr val="CDDE33"/>
                </a:solidFill>
                <a:latin typeface="Karla"/>
              </a:rPr>
              <a:t>›  </a:t>
            </a:r>
            <a:r>
              <a:rPr sz="1380" b="1">
                <a:solidFill>
                  <a:srgbClr val="FAFAF4"/>
                </a:solidFill>
                <a:latin typeface="Karla"/>
              </a:rPr>
              <a:t>Every entity classified into TBM Taxonomy v5.0.1.</a:t>
            </a:r>
          </a:p>
          <a:p>
            <a:pPr>
              <a:spcAft>
                <a:spcPts val="1200"/>
              </a:spcAft>
            </a:pPr>
            <a:r>
              <a:rPr sz="1180">
                <a:solidFill>
                  <a:srgbClr val="86A1A1"/>
                </a:solidFill>
                <a:latin typeface="Karla"/>
              </a:rPr>
              <a:t>     Resource Towers, Cost Pools, and Technology Solutions — all three layers.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80" b="1">
                <a:solidFill>
                  <a:srgbClr val="CDDE33"/>
                </a:solidFill>
                <a:latin typeface="Karla"/>
              </a:rPr>
              <a:t>›  </a:t>
            </a:r>
            <a:r>
              <a:rPr sz="1380" b="1">
                <a:solidFill>
                  <a:srgbClr val="FAFAF4"/>
                </a:solidFill>
                <a:latin typeface="Karla"/>
              </a:rPr>
              <a:t>Confidence-scored, with evidence.</a:t>
            </a:r>
          </a:p>
          <a:p>
            <a:pPr>
              <a:spcAft>
                <a:spcPts val="1200"/>
              </a:spcAft>
            </a:pPr>
            <a:r>
              <a:rPr sz="1180">
                <a:solidFill>
                  <a:srgbClr val="86A1A1"/>
                </a:solidFill>
                <a:latin typeface="Karla"/>
              </a:rPr>
              <a:t>     Vector similarity + keyword scoring, shown per mapping — nothing is a black box.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80" b="1">
                <a:solidFill>
                  <a:srgbClr val="CDDE33"/>
                </a:solidFill>
                <a:latin typeface="Karla"/>
              </a:rPr>
              <a:t>›  </a:t>
            </a:r>
            <a:r>
              <a:rPr sz="1380" b="1">
                <a:solidFill>
                  <a:srgbClr val="FAFAF4"/>
                </a:solidFill>
                <a:latin typeface="Karla"/>
              </a:rPr>
              <a:t>Human-in-the-loop review.</a:t>
            </a:r>
          </a:p>
          <a:p>
            <a:pPr>
              <a:spcAft>
                <a:spcPts val="1200"/>
              </a:spcAft>
            </a:pPr>
            <a:r>
              <a:rPr sz="1180">
                <a:solidFill>
                  <a:srgbClr val="86A1A1"/>
                </a:solidFill>
                <a:latin typeface="Karla"/>
              </a:rPr>
              <a:t>     Approve, reject, or override any suggestion; overrides feed back into the graph.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80" b="1">
                <a:solidFill>
                  <a:srgbClr val="CDDE33"/>
                </a:solidFill>
                <a:latin typeface="Karla"/>
              </a:rPr>
              <a:t>›  </a:t>
            </a:r>
            <a:r>
              <a:rPr sz="1380" b="1">
                <a:solidFill>
                  <a:srgbClr val="FAFAF4"/>
                </a:solidFill>
                <a:latin typeface="Karla"/>
              </a:rPr>
              <a:t>One click syncs approved mappings straight into the knowledge graph.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59680" y="1813560"/>
            <a:ext cx="6477000" cy="3790950"/>
          </a:xfrm>
          <a:prstGeom prst="rect">
            <a:avLst/>
          </a:prstGeom>
          <a:solidFill>
            <a:srgbClr val="111111"/>
          </a:solidFill>
          <a:ln w="12700">
            <a:solidFill>
              <a:srgbClr val="20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t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828800"/>
            <a:ext cx="6446520" cy="376047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74920" y="5698998"/>
            <a:ext cx="6446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4F6868"/>
                </a:solidFill>
                <a:latin typeface="Karla"/>
              </a:rPr>
              <a:t>1,219 candidates classified against the ATUM taxonomy, live confidence scoring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4F6868"/>
                </a:solidFill>
                <a:latin typeface="Karla"/>
              </a:rPr>
              <a:t>ATHENA · TBM INTELLIGENCE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>
                <a:solidFill>
                  <a:srgbClr val="4F6868"/>
                </a:solidFill>
                <a:latin typeface="Karla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DDE33"/>
                </a:solidFill>
                <a:latin typeface="Karla"/>
              </a:rPr>
              <a:t>PHASE 5 — EXPORT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0">
                <a:solidFill>
                  <a:srgbClr val="FAFAF4"/>
                </a:solidFill>
                <a:latin typeface="Playfair Display"/>
              </a:rPr>
              <a:t>A governed model, ready for Apptio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502920" cy="38100"/>
          </a:xfrm>
          <a:prstGeom prst="rect">
            <a:avLst/>
          </a:prstGeom>
          <a:solidFill>
            <a:srgbClr val="CDD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4160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80" b="1">
                <a:solidFill>
                  <a:srgbClr val="CDDE33"/>
                </a:solidFill>
                <a:latin typeface="Karla"/>
              </a:rPr>
              <a:t>›  </a:t>
            </a:r>
            <a:r>
              <a:rPr sz="1380" b="1">
                <a:solidFill>
                  <a:srgbClr val="FAFAF4"/>
                </a:solidFill>
                <a:latin typeface="Karla"/>
              </a:rPr>
              <a:t>One-click export of the full TBM data model.</a:t>
            </a:r>
          </a:p>
          <a:p>
            <a:pPr>
              <a:spcAft>
                <a:spcPts val="1200"/>
              </a:spcAft>
            </a:pPr>
            <a:r>
              <a:rPr sz="1180">
                <a:solidFill>
                  <a:srgbClr val="86A1A1"/>
                </a:solidFill>
                <a:latin typeface="Karla"/>
              </a:rPr>
              <a:t>     Cost centers, applications, vendors, cloud resources — fully mapped.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80" b="1">
                <a:solidFill>
                  <a:srgbClr val="CDDE33"/>
                </a:solidFill>
                <a:latin typeface="Karla"/>
              </a:rPr>
              <a:t>›  </a:t>
            </a:r>
            <a:r>
              <a:rPr sz="1380" b="1">
                <a:solidFill>
                  <a:srgbClr val="FAFAF4"/>
                </a:solidFill>
                <a:latin typeface="Karla"/>
              </a:rPr>
              <a:t>Configurable confidence threshold.</a:t>
            </a:r>
          </a:p>
          <a:p>
            <a:pPr>
              <a:spcAft>
                <a:spcPts val="1200"/>
              </a:spcAft>
            </a:pPr>
            <a:r>
              <a:rPr sz="1180">
                <a:solidFill>
                  <a:srgbClr val="86A1A1"/>
                </a:solidFill>
                <a:latin typeface="Karla"/>
              </a:rPr>
              <a:t>     Ship only what's trustworthy, or include low-confidence records with a flag.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80" b="1">
                <a:solidFill>
                  <a:srgbClr val="CDDE33"/>
                </a:solidFill>
                <a:latin typeface="Karla"/>
              </a:rPr>
              <a:t>›  </a:t>
            </a:r>
            <a:r>
              <a:rPr sz="1380" b="1">
                <a:solidFill>
                  <a:srgbClr val="FAFAF4"/>
                </a:solidFill>
                <a:latin typeface="Karla"/>
              </a:rPr>
              <a:t>Excel-ready output, versioned history.</a:t>
            </a:r>
          </a:p>
          <a:p>
            <a:pPr>
              <a:spcAft>
                <a:spcPts val="1200"/>
              </a:spcAft>
            </a:pPr>
            <a:r>
              <a:rPr sz="1180">
                <a:solidFill>
                  <a:srgbClr val="86A1A1"/>
                </a:solidFill>
                <a:latin typeface="Karla"/>
              </a:rPr>
              <a:t>     Every export is tracked, downloadable, and reproducible.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80" b="1">
                <a:solidFill>
                  <a:srgbClr val="CDDE33"/>
                </a:solidFill>
                <a:latin typeface="Karla"/>
              </a:rPr>
              <a:t>›  </a:t>
            </a:r>
            <a:r>
              <a:rPr sz="1380" b="1">
                <a:solidFill>
                  <a:srgbClr val="FAFAF4"/>
                </a:solidFill>
                <a:latin typeface="Karla"/>
              </a:rPr>
              <a:t>331 entities · 1,354 relationships, export-ready in this run.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59680" y="1813560"/>
            <a:ext cx="6477000" cy="3790950"/>
          </a:xfrm>
          <a:prstGeom prst="rect">
            <a:avLst/>
          </a:prstGeom>
          <a:solidFill>
            <a:srgbClr val="111111"/>
          </a:solidFill>
          <a:ln w="12700">
            <a:solidFill>
              <a:srgbClr val="20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x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828800"/>
            <a:ext cx="6446520" cy="376047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74920" y="5698998"/>
            <a:ext cx="6446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4F6868"/>
                </a:solidFill>
                <a:latin typeface="Karla"/>
              </a:rPr>
              <a:t>TBM Data Model Export — ready: 331 entities, 1,354 relationships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4F6868"/>
                </a:solidFill>
                <a:latin typeface="Karla"/>
              </a:rPr>
              <a:t>ATHENA · TBM INTELLIGENCE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>
                <a:solidFill>
                  <a:srgbClr val="4F6868"/>
                </a:solidFill>
                <a:latin typeface="Karla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DDE33"/>
                </a:solidFill>
                <a:latin typeface="Karla"/>
              </a:rPr>
              <a:t>ALWAYS-ON VISIBILITY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0">
                <a:solidFill>
                  <a:srgbClr val="FAFAF4"/>
                </a:solidFill>
                <a:latin typeface="Playfair Display"/>
              </a:rPr>
              <a:t>One dashboard, the whole pipeline's health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502920" cy="38100"/>
          </a:xfrm>
          <a:prstGeom prst="rect">
            <a:avLst/>
          </a:prstGeom>
          <a:solidFill>
            <a:srgbClr val="CDD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3840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80" b="1">
                <a:solidFill>
                  <a:srgbClr val="CDDE33"/>
                </a:solidFill>
                <a:latin typeface="Karla"/>
              </a:rPr>
              <a:t>›  </a:t>
            </a:r>
            <a:r>
              <a:rPr sz="1380" b="1">
                <a:solidFill>
                  <a:srgbClr val="FAFAF4"/>
                </a:solidFill>
                <a:latin typeface="Karla"/>
              </a:rPr>
              <a:t>TBM Readiness Score.</a:t>
            </a:r>
          </a:p>
          <a:p>
            <a:pPr>
              <a:spcAft>
                <a:spcPts val="1200"/>
              </a:spcAft>
            </a:pPr>
            <a:r>
              <a:rPr sz="1180">
                <a:solidFill>
                  <a:srgbClr val="86A1A1"/>
                </a:solidFill>
                <a:latin typeface="Karla"/>
              </a:rPr>
              <a:t>     A single weighted number combining readiness, ATUM coverage, and open issues.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80" b="1">
                <a:solidFill>
                  <a:srgbClr val="CDDE33"/>
                </a:solidFill>
                <a:latin typeface="Karla"/>
              </a:rPr>
              <a:t>›  </a:t>
            </a:r>
            <a:r>
              <a:rPr sz="1380" b="1">
                <a:solidFill>
                  <a:srgbClr val="FAFAF4"/>
                </a:solidFill>
                <a:latin typeface="Karla"/>
              </a:rPr>
              <a:t>Action items, not just charts.</a:t>
            </a:r>
          </a:p>
          <a:p>
            <a:pPr>
              <a:spcAft>
                <a:spcPts val="1200"/>
              </a:spcAft>
            </a:pPr>
            <a:r>
              <a:rPr sz="1180">
                <a:solidFill>
                  <a:srgbClr val="86A1A1"/>
                </a:solidFill>
                <a:latin typeface="Karla"/>
              </a:rPr>
              <a:t>     Unresolved mappings, low-readiness datasets, and unfinished ingestion, ranked.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80" b="1">
                <a:solidFill>
                  <a:srgbClr val="CDDE33"/>
                </a:solidFill>
                <a:latin typeface="Karla"/>
              </a:rPr>
              <a:t>›  </a:t>
            </a:r>
            <a:r>
              <a:rPr sz="1380" b="1">
                <a:solidFill>
                  <a:srgbClr val="FAFAF4"/>
                </a:solidFill>
                <a:latin typeface="Karla"/>
              </a:rPr>
              <a:t>Full ATUM coverage breakdown.</a:t>
            </a:r>
          </a:p>
          <a:p>
            <a:pPr>
              <a:spcAft>
                <a:spcPts val="1200"/>
              </a:spcAft>
            </a:pPr>
            <a:r>
              <a:rPr sz="1180">
                <a:solidFill>
                  <a:srgbClr val="86A1A1"/>
                </a:solidFill>
                <a:latin typeface="Karla"/>
              </a:rPr>
              <a:t>     By layer, by status, by top classified resource towers.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80" b="1">
                <a:solidFill>
                  <a:srgbClr val="CDDE33"/>
                </a:solidFill>
                <a:latin typeface="Karla"/>
              </a:rPr>
              <a:t>›  </a:t>
            </a:r>
            <a:r>
              <a:rPr sz="1380" b="1">
                <a:solidFill>
                  <a:srgbClr val="FAFAF4"/>
                </a:solidFill>
                <a:latin typeface="Karla"/>
              </a:rPr>
              <a:t>Duke — an embedded AI assistant.</a:t>
            </a:r>
          </a:p>
          <a:p>
            <a:pPr>
              <a:spcAft>
                <a:spcPts val="1200"/>
              </a:spcAft>
            </a:pPr>
            <a:r>
              <a:rPr sz="1180">
                <a:solidFill>
                  <a:srgbClr val="86A1A1"/>
                </a:solidFill>
                <a:latin typeface="Karla"/>
              </a:rPr>
              <a:t>     Context-aware to whichever phase you're on; answers questions about your own data.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59680" y="1813560"/>
            <a:ext cx="6477000" cy="3790950"/>
          </a:xfrm>
          <a:prstGeom prst="rect">
            <a:avLst/>
          </a:prstGeom>
          <a:solidFill>
            <a:srgbClr val="111111"/>
          </a:solidFill>
          <a:ln w="12700">
            <a:solidFill>
              <a:srgbClr val="20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828800"/>
            <a:ext cx="6446520" cy="376047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74920" y="5698998"/>
            <a:ext cx="6446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0">
                <a:solidFill>
                  <a:srgbClr val="4F6868"/>
                </a:solidFill>
                <a:latin typeface="Karla"/>
              </a:rPr>
              <a:t>Analytics Dashboard — readiness, quality, ATUM coverage, and dataset health in one 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4F6868"/>
                </a:solidFill>
                <a:latin typeface="Karla"/>
              </a:rPr>
              <a:t>ATHENA · TBM INTELLIGENCE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>
                <a:solidFill>
                  <a:srgbClr val="4F6868"/>
                </a:solidFill>
                <a:latin typeface="Karla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DDE33"/>
                </a:solidFill>
                <a:latin typeface="Karla"/>
              </a:rPr>
              <a:t>UNDER THE HOOD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0">
                <a:solidFill>
                  <a:srgbClr val="FAFAF4"/>
                </a:solidFill>
                <a:latin typeface="Playfair Display"/>
              </a:rPr>
              <a:t>Built for a real enterprise data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502920" cy="38100"/>
          </a:xfrm>
          <a:prstGeom prst="rect">
            <a:avLst/>
          </a:prstGeom>
          <a:solidFill>
            <a:srgbClr val="CDD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874519"/>
            <a:ext cx="3429000" cy="3017520"/>
          </a:xfrm>
          <a:prstGeom prst="rect">
            <a:avLst/>
          </a:prstGeom>
          <a:solidFill>
            <a:srgbClr val="111111"/>
          </a:solidFill>
          <a:ln w="9525">
            <a:solidFill>
              <a:srgbClr val="20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38100" cy="3017520"/>
          </a:xfrm>
          <a:prstGeom prst="rect">
            <a:avLst/>
          </a:prstGeom>
          <a:solidFill>
            <a:srgbClr val="CDD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075687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DDE33"/>
                </a:solidFill>
                <a:latin typeface="Playfair Display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560319"/>
            <a:ext cx="2971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200" b="1">
                <a:solidFill>
                  <a:srgbClr val="CDDE33"/>
                </a:solidFill>
                <a:latin typeface="Karla"/>
              </a:rPr>
              <a:t>›  </a:t>
            </a:r>
            <a:r>
              <a:rPr sz="1200" b="1">
                <a:solidFill>
                  <a:srgbClr val="FAFAF4"/>
                </a:solidFill>
                <a:latin typeface="Karla"/>
              </a:rPr>
              <a:t>React + Vite, TypeScript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200" b="1">
                <a:solidFill>
                  <a:srgbClr val="CDDE33"/>
                </a:solidFill>
                <a:latin typeface="Karla"/>
              </a:rPr>
              <a:t>›  </a:t>
            </a:r>
            <a:r>
              <a:rPr sz="1200" b="1">
                <a:solidFill>
                  <a:srgbClr val="FAFAF4"/>
                </a:solidFill>
                <a:latin typeface="Karla"/>
              </a:rPr>
              <a:t>Custom force-directed graph viz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200" b="1">
                <a:solidFill>
                  <a:srgbClr val="CDDE33"/>
                </a:solidFill>
                <a:latin typeface="Karla"/>
              </a:rPr>
              <a:t>›  </a:t>
            </a:r>
            <a:r>
              <a:rPr sz="1200" b="1">
                <a:solidFill>
                  <a:srgbClr val="FAFAF4"/>
                </a:solidFill>
                <a:latin typeface="Karla"/>
              </a:rPr>
              <a:t>Pan / zoom / focus-mode exploration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874519"/>
            <a:ext cx="3429000" cy="3017520"/>
          </a:xfrm>
          <a:prstGeom prst="rect">
            <a:avLst/>
          </a:prstGeom>
          <a:solidFill>
            <a:srgbClr val="111111"/>
          </a:solidFill>
          <a:ln w="9525">
            <a:solidFill>
              <a:srgbClr val="20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874519"/>
            <a:ext cx="38100" cy="3017520"/>
          </a:xfrm>
          <a:prstGeom prst="rect">
            <a:avLst/>
          </a:prstGeom>
          <a:solidFill>
            <a:srgbClr val="0F7E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5152" y="2075687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7E6D"/>
                </a:solidFill>
                <a:latin typeface="Playfair Display"/>
              </a:rPr>
              <a:t>Backend &amp;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2560319"/>
            <a:ext cx="2971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200" b="1">
                <a:solidFill>
                  <a:srgbClr val="0F7E6D"/>
                </a:solidFill>
                <a:latin typeface="Karla"/>
              </a:rPr>
              <a:t>›  </a:t>
            </a:r>
            <a:r>
              <a:rPr sz="1200" b="1">
                <a:solidFill>
                  <a:srgbClr val="FAFAF4"/>
                </a:solidFill>
                <a:latin typeface="Karla"/>
              </a:rPr>
              <a:t>Express API · LangGraph pipelines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200" b="1">
                <a:solidFill>
                  <a:srgbClr val="0F7E6D"/>
                </a:solidFill>
                <a:latin typeface="Karla"/>
              </a:rPr>
              <a:t>›  </a:t>
            </a:r>
            <a:r>
              <a:rPr sz="1200" b="1">
                <a:solidFill>
                  <a:srgbClr val="FAFAF4"/>
                </a:solidFill>
                <a:latin typeface="Karla"/>
              </a:rPr>
              <a:t>OpenAI embeddings + LLM refinement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200" b="1">
                <a:solidFill>
                  <a:srgbClr val="0F7E6D"/>
                </a:solidFill>
                <a:latin typeface="Karla"/>
              </a:rPr>
              <a:t>›  </a:t>
            </a:r>
            <a:r>
              <a:rPr sz="1200" b="1">
                <a:solidFill>
                  <a:srgbClr val="FAFAF4"/>
                </a:solidFill>
                <a:latin typeface="Karla"/>
              </a:rPr>
              <a:t>Multi-stage: profile → embed → graph → classify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874519"/>
            <a:ext cx="3429000" cy="3017520"/>
          </a:xfrm>
          <a:prstGeom prst="rect">
            <a:avLst/>
          </a:prstGeom>
          <a:solidFill>
            <a:srgbClr val="111111"/>
          </a:solidFill>
          <a:ln w="9525">
            <a:solidFill>
              <a:srgbClr val="20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874519"/>
            <a:ext cx="38100" cy="3017520"/>
          </a:xfrm>
          <a:prstGeom prst="rect">
            <a:avLst/>
          </a:prstGeom>
          <a:solidFill>
            <a:srgbClr val="25A2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94192" y="2075687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5A28F"/>
                </a:solidFill>
                <a:latin typeface="Playfair Display"/>
              </a:rPr>
              <a:t>Data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92" y="2560319"/>
            <a:ext cx="2971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200" b="1">
                <a:solidFill>
                  <a:srgbClr val="25A28F"/>
                </a:solidFill>
                <a:latin typeface="Karla"/>
              </a:rPr>
              <a:t>›  </a:t>
            </a:r>
            <a:r>
              <a:rPr sz="1200" b="1">
                <a:solidFill>
                  <a:srgbClr val="FAFAF4"/>
                </a:solidFill>
                <a:latin typeface="Karla"/>
              </a:rPr>
              <a:t>Postgres + pgvector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200" b="1">
                <a:solidFill>
                  <a:srgbClr val="25A28F"/>
                </a:solidFill>
                <a:latin typeface="Karla"/>
              </a:rPr>
              <a:t>›  </a:t>
            </a:r>
            <a:r>
              <a:rPr sz="1200" b="1">
                <a:solidFill>
                  <a:srgbClr val="FAFAF4"/>
                </a:solidFill>
                <a:latin typeface="Karla"/>
              </a:rPr>
              <a:t>Semantic similarity search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200" b="1">
                <a:solidFill>
                  <a:srgbClr val="25A28F"/>
                </a:solidFill>
                <a:latin typeface="Karla"/>
              </a:rPr>
              <a:t>›  </a:t>
            </a:r>
            <a:r>
              <a:rPr sz="1200" b="1">
                <a:solidFill>
                  <a:srgbClr val="FAFAF4"/>
                </a:solidFill>
                <a:latin typeface="Karla"/>
              </a:rPr>
              <a:t>Versioned exports &amp; audit history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1663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86A1A1"/>
                </a:solidFill>
                <a:latin typeface="Karla"/>
              </a:rPr>
              <a:t>A monorepo: apps/web (React), apps/api (Express), packages/db (repository layer), packages/langgraph (AI pipeline stages) — 8 stages from raw file to governed TBM model.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4F6868"/>
                </a:solidFill>
                <a:latin typeface="Karla"/>
              </a:rPr>
              <a:t>ATHENA · TBM INTELLIGENCE PLATFORM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>
                <a:solidFill>
                  <a:srgbClr val="4F6868"/>
                </a:solidFill>
                <a:latin typeface="Karla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669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CDDE33"/>
                </a:solidFill>
                <a:latin typeface="Karla"/>
              </a:rPr>
              <a:t>WHY IT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2296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300" b="0">
                <a:solidFill>
                  <a:srgbClr val="FAFAF4"/>
                </a:solidFill>
                <a:latin typeface="Playfair Display"/>
              </a:rPr>
              <a:t>Weeks of spreadsheet wrangling, compressed to a guided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502920" cy="38100"/>
          </a:xfrm>
          <a:prstGeom prst="rect">
            <a:avLst/>
          </a:prstGeom>
          <a:solidFill>
            <a:srgbClr val="CDD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20240"/>
            <a:ext cx="2606040" cy="1737360"/>
          </a:xfrm>
          <a:prstGeom prst="rect">
            <a:avLst/>
          </a:prstGeom>
          <a:solidFill>
            <a:srgbClr val="111111"/>
          </a:solidFill>
          <a:ln w="9525">
            <a:solidFill>
              <a:srgbClr val="20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21408"/>
            <a:ext cx="2240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CDDE33"/>
                </a:solidFill>
                <a:latin typeface="Playfair Display"/>
              </a:rPr>
              <a:t>108,808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80360"/>
            <a:ext cx="2240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86A1A1"/>
                </a:solidFill>
                <a:latin typeface="Karla"/>
              </a:rPr>
              <a:t>rows ingested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86A1A1"/>
                </a:solidFill>
                <a:latin typeface="Karla"/>
              </a:rPr>
              <a:t>automatically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920240"/>
            <a:ext cx="2606040" cy="1737360"/>
          </a:xfrm>
          <a:prstGeom prst="rect">
            <a:avLst/>
          </a:prstGeom>
          <a:solidFill>
            <a:srgbClr val="111111"/>
          </a:solidFill>
          <a:ln w="9525">
            <a:solidFill>
              <a:srgbClr val="20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121408"/>
            <a:ext cx="2240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0F7E6D"/>
                </a:solidFill>
                <a:latin typeface="Playfair Display"/>
              </a:rPr>
              <a:t>958+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880360"/>
            <a:ext cx="2240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86A1A1"/>
                </a:solidFill>
                <a:latin typeface="Karla"/>
              </a:rPr>
              <a:t>relationships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86A1A1"/>
                </a:solidFill>
                <a:latin typeface="Karla"/>
              </a:rPr>
              <a:t>discovered, not typed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920240"/>
            <a:ext cx="2606040" cy="1737360"/>
          </a:xfrm>
          <a:prstGeom prst="rect">
            <a:avLst/>
          </a:prstGeom>
          <a:solidFill>
            <a:srgbClr val="111111"/>
          </a:solidFill>
          <a:ln w="9525">
            <a:solidFill>
              <a:srgbClr val="20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121408"/>
            <a:ext cx="2240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BB1C"/>
                </a:solidFill>
                <a:latin typeface="Playfair Display"/>
              </a:rPr>
              <a:t>1,219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880360"/>
            <a:ext cx="2240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86A1A1"/>
                </a:solidFill>
                <a:latin typeface="Karla"/>
              </a:rPr>
              <a:t>entities classified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86A1A1"/>
                </a:solidFill>
                <a:latin typeface="Karla"/>
              </a:rPr>
              <a:t>against ATUM v5.0.1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1920240"/>
            <a:ext cx="2606040" cy="1737360"/>
          </a:xfrm>
          <a:prstGeom prst="rect">
            <a:avLst/>
          </a:prstGeom>
          <a:solidFill>
            <a:srgbClr val="111111"/>
          </a:solidFill>
          <a:ln w="9525">
            <a:solidFill>
              <a:srgbClr val="20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121408"/>
            <a:ext cx="2240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25A28F"/>
                </a:solidFill>
                <a:latin typeface="Playfair Display"/>
              </a:rPr>
              <a:t>331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2880360"/>
            <a:ext cx="2240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86A1A1"/>
                </a:solidFill>
                <a:latin typeface="Karla"/>
              </a:rPr>
              <a:t>entities ready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86A1A1"/>
                </a:solidFill>
                <a:latin typeface="Karla"/>
              </a:rPr>
              <a:t>for export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977639"/>
            <a:ext cx="10607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50" b="1">
                <a:solidFill>
                  <a:srgbClr val="CDDE33"/>
                </a:solidFill>
                <a:latin typeface="Karla"/>
              </a:rPr>
              <a:t>›  </a:t>
            </a:r>
            <a:r>
              <a:rPr sz="1450" b="1">
                <a:solidFill>
                  <a:srgbClr val="FAFAF4"/>
                </a:solidFill>
                <a:latin typeface="Karla"/>
              </a:rPr>
              <a:t>From raw spreadsheets to an audit-ready TBM model — no manual mapping spreadsheet, no tribal knowledge required.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50" b="1">
                <a:solidFill>
                  <a:srgbClr val="CDDE33"/>
                </a:solidFill>
                <a:latin typeface="Karla"/>
              </a:rPr>
              <a:t>›  </a:t>
            </a:r>
            <a:r>
              <a:rPr sz="1450" b="1">
                <a:solidFill>
                  <a:srgbClr val="FAFAF4"/>
                </a:solidFill>
                <a:latin typeface="Karla"/>
              </a:rPr>
              <a:t>Every classification is explainable: confidence score, evidence, and a human approval step.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450" b="1">
                <a:solidFill>
                  <a:srgbClr val="CDDE33"/>
                </a:solidFill>
                <a:latin typeface="Karla"/>
              </a:rPr>
              <a:t>›  </a:t>
            </a:r>
            <a:r>
              <a:rPr sz="1450" b="1">
                <a:solidFill>
                  <a:srgbClr val="FAFAF4"/>
                </a:solidFill>
                <a:latin typeface="Karla"/>
              </a:rPr>
              <a:t>The knowledge graph is reusable infrastructure — the same relationships power quality checks, ATUM mapping, and export.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4F6868"/>
                </a:solidFill>
                <a:latin typeface="Karla"/>
              </a:rPr>
              <a:t>ATHENA · TBM INTELLIGENCE PLATFORM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>
                <a:solidFill>
                  <a:srgbClr val="4F6868"/>
                </a:solidFill>
                <a:latin typeface="Karla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800" cy="6858000"/>
          </a:xfrm>
          <a:prstGeom prst="rect">
            <a:avLst/>
          </a:prstGeom>
          <a:solidFill>
            <a:srgbClr val="CDD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2743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>
                <a:solidFill>
                  <a:srgbClr val="CDDE33"/>
                </a:solidFill>
                <a:latin typeface="Playfair Display"/>
              </a:rPr>
              <a:t>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10896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00" b="0">
                <a:solidFill>
                  <a:srgbClr val="FAFAF4"/>
                </a:solidFill>
                <a:latin typeface="Playfair Display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977639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CDDE33"/>
                </a:solidFill>
                <a:latin typeface="Karla"/>
              </a:rPr>
              <a:t>ATHENA — TBM INTELLIGENCE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434840"/>
            <a:ext cx="8686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86A1A1"/>
                </a:solidFill>
                <a:latin typeface="Karla"/>
              </a:rPr>
              <a:t>Questions, demo requests, or a closer look at the knowledge graph — happy to dive 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4F6868"/>
                </a:solidFill>
                <a:latin typeface="Karla"/>
              </a:rPr>
              <a:t>ATHENA · TBM INTELLIGENCE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51052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>
                <a:solidFill>
                  <a:srgbClr val="4F6868"/>
                </a:solidFill>
                <a:latin typeface="Karla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